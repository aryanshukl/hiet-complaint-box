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914400"/>
            <a:ext cx="3200400" cy="1005840"/>
          </a:xfrm>
          <a:prstGeom prst="roundRect">
            <a:avLst/>
          </a:prstGeom>
          <a:solidFill>
            <a:srgbClr val="26BEC8"/>
          </a:solidFill>
          <a:ln w="12700">
            <a:solidFill>
              <a:srgbClr val="26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2057400"/>
            <a:ext cx="2651760" cy="1005840"/>
          </a:xfrm>
          <a:prstGeom prst="roundRect">
            <a:avLst/>
          </a:prstGeom>
          <a:solidFill>
            <a:srgbClr val="007ED2"/>
          </a:solidFill>
          <a:ln w="12700">
            <a:solidFill>
              <a:srgbClr val="007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0" y="3200400"/>
            <a:ext cx="3474720" cy="1005840"/>
          </a:xfrm>
          <a:prstGeom prst="roundRect">
            <a:avLst/>
          </a:prstGeom>
          <a:solidFill>
            <a:srgbClr val="2FAB75"/>
          </a:solidFill>
          <a:ln w="12700">
            <a:solidFill>
              <a:srgbClr val="2FA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TEAM EXCEL  •  HIET INNOVATION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583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HIET Online
Complaint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2E1EE"/>
                </a:solidFill>
                <a:latin typeface="Aptos"/>
              </a:rPr>
              <a:t>A Modern, Transparent &amp; Digital Grievance Resolution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822191"/>
            <a:ext cx="2011680" cy="310896"/>
          </a:xfrm>
          <a:prstGeom prst="roundRect">
            <a:avLst/>
          </a:prstGeom>
          <a:solidFill>
            <a:srgbClr val="183553"/>
          </a:solidFill>
          <a:ln w="12700">
            <a:solidFill>
              <a:srgbClr val="1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840479"/>
            <a:ext cx="18653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BEC8"/>
                </a:solidFill>
                <a:latin typeface="Aptos"/>
              </a:rPr>
              <a:t>STUDENT-FIRST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3822191"/>
            <a:ext cx="1920240" cy="310896"/>
          </a:xfrm>
          <a:prstGeom prst="roundRect">
            <a:avLst/>
          </a:prstGeom>
          <a:solidFill>
            <a:srgbClr val="183553"/>
          </a:solidFill>
          <a:ln w="12700">
            <a:solidFill>
              <a:srgbClr val="1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3840479"/>
            <a:ext cx="17739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FAB75"/>
                </a:solidFill>
                <a:latin typeface="Aptos"/>
              </a:rPr>
              <a:t>PAPERLESS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4608" y="3822191"/>
            <a:ext cx="1828800" cy="310896"/>
          </a:xfrm>
          <a:prstGeom prst="roundRect">
            <a:avLst/>
          </a:prstGeom>
          <a:solidFill>
            <a:srgbClr val="183553"/>
          </a:solidFill>
          <a:ln w="12700">
            <a:solidFill>
              <a:srgbClr val="1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840479"/>
            <a:ext cx="1682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7ED2"/>
                </a:solidFill>
                <a:latin typeface="Aptos"/>
              </a:rPr>
              <a:t>TRACKABLE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07492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ED0"/>
                </a:solidFill>
                <a:latin typeface="Aptos"/>
              </a:rPr>
              <a:t>HIET Campus Digitalization Project  •  Student Administrative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5B6C9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6C9"/>
                </a:solidFill>
                <a:latin typeface="Aptos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D2"/>
                </a:solidFill>
                <a:latin typeface="Aptos"/>
              </a:rP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82D"/>
                </a:solidFill>
                <a:latin typeface="Aptos"/>
              </a:rPr>
              <a:t>Why the traditional complaint box falls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A91"/>
                </a:solidFill>
                <a:latin typeface="Aptos"/>
              </a:rPr>
              <a:t>The current process creates friction for students and limited visibility for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074920" cy="141732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350008"/>
            <a:ext cx="640080" cy="310896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68296"/>
            <a:ext cx="49377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7ED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31343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82D"/>
                </a:solidFill>
                <a:latin typeface="Aptos"/>
              </a:rPr>
              <a:t>Paper-based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715768"/>
            <a:ext cx="37490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A91"/>
                </a:solidFill>
                <a:latin typeface="Aptos"/>
              </a:rPr>
              <a:t>Physical notes can be misplaced, damaged or difficult to 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5074920" cy="141732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350008"/>
            <a:ext cx="640080" cy="310896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368296"/>
            <a:ext cx="49377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7ED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231343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82D"/>
                </a:solidFill>
                <a:latin typeface="Aptos"/>
              </a:rPr>
              <a:t>Slow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2715768"/>
            <a:ext cx="37490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A91"/>
                </a:solidFill>
                <a:latin typeface="Aptos"/>
              </a:rPr>
              <a:t>Manual collection and sorting delay urgent grievances.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5074920" cy="141732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133087"/>
            <a:ext cx="640080" cy="310896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151375"/>
            <a:ext cx="49377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7ED2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096511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82D"/>
                </a:solidFill>
                <a:latin typeface="Aptos"/>
              </a:rPr>
              <a:t>No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498848"/>
            <a:ext cx="37490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A91"/>
                </a:solidFill>
                <a:latin typeface="Aptos"/>
              </a:rPr>
              <a:t>Students cannot clearly see who is reviewing a complaint or its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31920"/>
            <a:ext cx="5074920" cy="141732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133087"/>
            <a:ext cx="640080" cy="310896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151375"/>
            <a:ext cx="49377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7ED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4096511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82D"/>
                </a:solidFill>
                <a:latin typeface="Aptos"/>
              </a:rPr>
              <a:t>No data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4498848"/>
            <a:ext cx="37490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A91"/>
                </a:solidFill>
                <a:latin typeface="Aptos"/>
              </a:rPr>
              <a:t>Leadership lacks a structured history for recurring departmental issues.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87A91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87A91"/>
                </a:solidFill>
                <a:latin typeface="Aptos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C8"/>
                </a:solidFill>
                <a:latin typeface="Aptos"/>
              </a:rPr>
              <a:t>02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One digital hub for every grievance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4D2E1"/>
                </a:solidFill>
                <a:latin typeface="Aptos"/>
              </a:rPr>
              <a:t>A web-based portal turns complaint submission into a structured, trackable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240280" cy="14173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2542032"/>
            <a:ext cx="475488" cy="475488"/>
          </a:xfrm>
          <a:prstGeom prst="ellipse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56032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441448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816352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D0E0"/>
                </a:solidFill>
                <a:latin typeface="Aptos"/>
              </a:rPr>
              <a:t>Submit complaint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788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6BEC8"/>
                </a:solidFill>
                <a:latin typeface="Aptos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331720"/>
            <a:ext cx="2240280" cy="14173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0752" y="2542032"/>
            <a:ext cx="475488" cy="475488"/>
          </a:xfrm>
          <a:prstGeom prst="ellipse">
            <a:avLst/>
          </a:prstGeom>
          <a:solidFill>
            <a:srgbClr val="26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56032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441448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816352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D0E0"/>
                </a:solidFill>
                <a:latin typeface="Aptos"/>
              </a:rPr>
              <a:t>Log + categorize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788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6BEC8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2331720"/>
            <a:ext cx="2240280" cy="14173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9671" y="2542032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1" y="256032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441448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2816352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D0E0"/>
                </a:solidFill>
                <a:latin typeface="Aptos"/>
              </a:rPr>
              <a:t>Review + 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2788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6BEC8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3999" y="2331720"/>
            <a:ext cx="2240280" cy="14173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08591" y="2542032"/>
            <a:ext cx="475488" cy="475488"/>
          </a:xfrm>
          <a:prstGeom prst="ellipse">
            <a:avLst/>
          </a:prstGeom>
          <a:solidFill>
            <a:srgbClr val="F5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1" y="256032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7" y="2441448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7" y="2816352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D0E0"/>
                </a:solidFill>
                <a:latin typeface="Aptos"/>
              </a:rPr>
              <a:t>Track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Outcome: faster resolution • paperless records • better accountability • stronger student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5B6C9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6C9"/>
                </a:solidFill>
                <a:latin typeface="Aptos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D2"/>
                </a:solidFill>
                <a:latin typeface="Aptos"/>
              </a:rPr>
              <a:t>03 •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82D"/>
                </a:solidFill>
                <a:latin typeface="Aptos"/>
              </a:rPr>
              <a:t>End-to-end complaint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A91"/>
                </a:solidFill>
                <a:latin typeface="Aptos"/>
              </a:rPr>
              <a:t>Five simple stages keep the process visible from submission to closure.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57400"/>
            <a:ext cx="475488" cy="475488"/>
          </a:xfrm>
          <a:prstGeom prst="ellipse">
            <a:avLst/>
          </a:prstGeom>
          <a:solidFill>
            <a:srgbClr val="26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75688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82D"/>
                </a:solidFill>
                <a:latin typeface="Aptos"/>
              </a:rPr>
              <a:t>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63240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A91"/>
                </a:solidFill>
                <a:latin typeface="Aptos"/>
              </a:rPr>
              <a:t>Student opens portal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56231" y="2286000"/>
            <a:ext cx="1042417" cy="0"/>
          </a:xfrm>
          <a:prstGeom prst="line">
            <a:avLst/>
          </a:prstGeom>
          <a:ln w="25400">
            <a:solidFill>
              <a:srgbClr val="DAE4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57600" y="2057400"/>
            <a:ext cx="475488" cy="475488"/>
          </a:xfrm>
          <a:prstGeom prst="ellipse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75688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974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82D"/>
                </a:solidFill>
                <a:latin typeface="Aptos"/>
              </a:rPr>
              <a:t>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3063240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A91"/>
                </a:solidFill>
                <a:latin typeface="Aptos"/>
              </a:rPr>
              <a:t>Selects category + details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42231" y="2286000"/>
            <a:ext cx="1042417" cy="0"/>
          </a:xfrm>
          <a:prstGeom prst="line">
            <a:avLst/>
          </a:prstGeom>
          <a:ln w="25400">
            <a:solidFill>
              <a:srgbClr val="DAE4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43600" y="2057400"/>
            <a:ext cx="475488" cy="475488"/>
          </a:xfrm>
          <a:prstGeom prst="ellipse">
            <a:avLst/>
          </a:prstGeom>
          <a:solidFill>
            <a:srgbClr val="26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075688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6974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82D"/>
                </a:solidFill>
                <a:latin typeface="Aptos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063240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A91"/>
                </a:solidFill>
                <a:latin typeface="Aptos"/>
              </a:rPr>
              <a:t>Entry reaches admin database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28232" y="2286000"/>
            <a:ext cx="1042416" cy="0"/>
          </a:xfrm>
          <a:prstGeom prst="line">
            <a:avLst/>
          </a:prstGeom>
          <a:ln w="25400">
            <a:solidFill>
              <a:srgbClr val="DAE4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0" y="2057400"/>
            <a:ext cx="475488" cy="475488"/>
          </a:xfrm>
          <a:prstGeom prst="ellipse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75688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6974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82D"/>
                </a:solidFill>
                <a:latin typeface="Aptos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3063240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A91"/>
                </a:solidFill>
                <a:latin typeface="Aptos"/>
              </a:rPr>
              <a:t>Authorized staff resolves issue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14232" y="2286000"/>
            <a:ext cx="1042416" cy="0"/>
          </a:xfrm>
          <a:prstGeom prst="line">
            <a:avLst/>
          </a:prstGeom>
          <a:ln w="25400">
            <a:solidFill>
              <a:srgbClr val="DAE4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515600" y="2057400"/>
            <a:ext cx="475488" cy="475488"/>
          </a:xfrm>
          <a:prstGeom prst="ellipse">
            <a:avLst/>
          </a:prstGeom>
          <a:solidFill>
            <a:srgbClr val="26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2075688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6974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82D"/>
                </a:solidFill>
                <a:latin typeface="Aptos"/>
              </a:rPr>
              <a:t>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063240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A91"/>
                </a:solidFill>
                <a:latin typeface="Aptos"/>
              </a:rPr>
              <a:t>Status updated to Resolved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43400"/>
            <a:ext cx="10561320" cy="914400"/>
          </a:xfrm>
          <a:prstGeom prst="roundRect">
            <a:avLst/>
          </a:prstGeom>
          <a:solidFill>
            <a:srgbClr val="E4F7EE"/>
          </a:solidFill>
          <a:ln w="12700">
            <a:solidFill>
              <a:srgbClr val="E4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553712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3D"/>
                </a:solidFill>
                <a:latin typeface="Aptos"/>
              </a:rPr>
              <a:t>Every complaint gets a structured record, department ownership and a visible processing stage.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87A91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87A91"/>
                </a:solidFill>
                <a:latin typeface="Aptos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D2"/>
                </a:solidFill>
                <a:latin typeface="Aptos"/>
              </a:rPr>
              <a:t>04 •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82D"/>
                </a:solidFill>
                <a:latin typeface="Aptos"/>
              </a:rPr>
              <a:t>Designed for speed, clarity and accountability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429000" cy="15087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176272"/>
            <a:ext cx="475488" cy="475488"/>
          </a:xfrm>
          <a:prstGeom prst="ellipse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9456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671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Intuitive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7860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A91"/>
                </a:solidFill>
                <a:latin typeface="Aptos"/>
              </a:rPr>
              <a:t>Quick submission with minimal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29000" cy="15087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2176272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9456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671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Smart tagging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7860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A91"/>
                </a:solidFill>
                <a:latin typeface="Aptos"/>
              </a:rPr>
              <a:t>Academics, Infrastructure, Hostel &amp; Administrative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965960"/>
            <a:ext cx="3429000" cy="15087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5048" y="2176272"/>
            <a:ext cx="475488" cy="475488"/>
          </a:xfrm>
          <a:prstGeom prst="ellipse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19456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671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Central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7860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A91"/>
                </a:solidFill>
                <a:latin typeface="Aptos"/>
              </a:rPr>
              <a:t>Digital repository replaces scattered paper archives.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40479"/>
            <a:ext cx="3429000" cy="15087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5528" y="4050791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69079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4164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Mobile friendly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453127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A91"/>
                </a:solidFill>
                <a:latin typeface="Aptos"/>
              </a:rPr>
              <a:t>Responsive across desktop, tablet and smartphone.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79"/>
            <a:ext cx="3429000" cy="15087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0288" y="4050791"/>
            <a:ext cx="475488" cy="475488"/>
          </a:xfrm>
          <a:prstGeom prst="ellipse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069079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04164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Live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453127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A91"/>
                </a:solidFill>
                <a:latin typeface="Aptos"/>
              </a:rPr>
              <a:t>Pending → In Progress → Resolved visibility.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840479"/>
            <a:ext cx="3429000" cy="15087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85048" y="4050791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4069079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04164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Privacy 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453127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A91"/>
                </a:solidFill>
                <a:latin typeface="Aptos"/>
              </a:rPr>
              <a:t>Authorization controls support confidential / anonymous reporting.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87A91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87A91"/>
                </a:solidFill>
                <a:latin typeface="Aptos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C8"/>
                </a:solidFill>
                <a:latin typeface="Aptos"/>
              </a:rPr>
              <a:t>05 • 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 complaint form students can understand in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4D2E1"/>
                </a:solidFill>
                <a:latin typeface="Aptos"/>
              </a:rPr>
              <a:t>Modern UI principles: clear hierarchy, soft contrast, accessible spacing and minimal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4709160" cy="361188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82D"/>
                </a:solidFill>
                <a:latin typeface="Aptos"/>
              </a:rPr>
              <a:t>Submit a Complaint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87A91"/>
                </a:solidFill>
                <a:latin typeface="Aptos"/>
              </a:rPr>
              <a:t>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44952"/>
            <a:ext cx="4069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099815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87A91"/>
                </a:solidFill>
                <a:latin typeface="Aptos"/>
              </a:rPr>
              <a:t>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04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87A91"/>
                </a:solidFill>
                <a:latin typeface="Aptos"/>
              </a:rPr>
              <a:t>Subject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776472"/>
            <a:ext cx="4069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831335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87A91"/>
                </a:solidFill>
                <a:latin typeface="Aptos"/>
              </a:rPr>
              <a:t>Classroom projector not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519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87A91"/>
                </a:solidFill>
                <a:latin typeface="Aptos"/>
              </a:rPr>
              <a:t>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507992"/>
            <a:ext cx="4069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562856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87A91"/>
                </a:solidFill>
                <a:latin typeface="Aptos"/>
              </a:rPr>
              <a:t>Describe the issue briefly...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074920"/>
            <a:ext cx="1417320" cy="347472"/>
          </a:xfrm>
          <a:prstGeom prst="roundRect">
            <a:avLst/>
          </a:prstGeom>
          <a:solidFill>
            <a:srgbClr val="007ED2"/>
          </a:solidFill>
          <a:ln w="12700">
            <a:solidFill>
              <a:srgbClr val="007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29784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SUBMIT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48840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67128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167128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Zero learning curve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898648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16936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91693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Submission target: ~60 seconds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648456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66744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666744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Accessible on any student device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398264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416552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Clear status after 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5B6C9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6C9"/>
                </a:solidFill>
                <a:latin typeface="Aptos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D2"/>
                </a:solidFill>
                <a:latin typeface="Aptos"/>
              </a:rPr>
              <a:t>06 •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82D"/>
                </a:solidFill>
                <a:latin typeface="Aptos"/>
              </a:rPr>
              <a:t>From complaints to actionable campus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A91"/>
                </a:solidFill>
                <a:latin typeface="Aptos"/>
              </a:rPr>
              <a:t>A centralized dashboard gives authorized staff a bird’s-eye view of active, pending and resolved issues.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583680" cy="388620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82D"/>
                </a:solidFill>
                <a:latin typeface="Aptos"/>
              </a:rPr>
              <a:t>Incident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87A91"/>
                </a:solidFill>
                <a:latin typeface="Aptos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7ED2"/>
                </a:solidFill>
                <a:latin typeface="Aptos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9748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8529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87A91"/>
                </a:solidFill>
                <a:latin typeface="Aptos"/>
              </a:rP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54680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9B3C"/>
                </a:solidFill>
                <a:latin typeface="Aptos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69748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8529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87A91"/>
                </a:solidFill>
                <a:latin typeface="Aptos"/>
              </a:rPr>
              <a:t>Resolved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154680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AB75"/>
                </a:solidFill>
                <a:latin typeface="Aptos"/>
              </a:rPr>
              <a:t>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5989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87A91"/>
                </a:solidFill>
                <a:latin typeface="Aptos"/>
              </a:rPr>
              <a:t>Recent 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7200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D2B3D"/>
                </a:solidFill>
                <a:latin typeface="Aptos"/>
              </a:rPr>
              <a:t>Hostel • Water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2803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D2B3D"/>
                </a:solidFill>
                <a:latin typeface="Aptos"/>
              </a:rPr>
              <a:t>IT • Wi-Fi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84064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D2B3D"/>
                </a:solidFill>
                <a:latin typeface="Aptos"/>
              </a:rPr>
              <a:t>Academic • Timetable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2057400"/>
            <a:ext cx="475488" cy="475488"/>
          </a:xfrm>
          <a:prstGeom prst="ellipse">
            <a:avLst/>
          </a:prstGeom>
          <a:solidFill>
            <a:srgbClr val="26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075688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0574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40487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A91"/>
                </a:solidFill>
                <a:latin typeface="Aptos"/>
              </a:rPr>
              <a:t>Urgency + category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3227832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246120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2278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7530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A91"/>
                </a:solidFill>
                <a:latin typeface="Aptos"/>
              </a:rPr>
              <a:t>Status + remarks</a:t>
            </a:r>
          </a:p>
        </p:txBody>
      </p:sp>
      <p:sp>
        <p:nvSpPr>
          <p:cNvPr id="30" name="Oval 29"/>
          <p:cNvSpPr/>
          <p:nvPr/>
        </p:nvSpPr>
        <p:spPr>
          <a:xfrm>
            <a:off x="7635240" y="4398264"/>
            <a:ext cx="475488" cy="475488"/>
          </a:xfrm>
          <a:prstGeom prst="ellipse">
            <a:avLst/>
          </a:prstGeom>
          <a:solidFill>
            <a:srgbClr val="2FA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4416552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98264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82D"/>
                </a:solidFill>
                <a:latin typeface="Aptos"/>
              </a:rPr>
              <a:t>Analyze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74573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A91"/>
                </a:solidFill>
                <a:latin typeface="Aptos"/>
              </a:rPr>
              <a:t>Resolution speed + recurring 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87A91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87A91"/>
                </a:solidFill>
                <a:latin typeface="Aptos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C8"/>
                </a:solidFill>
                <a:latin typeface="Aptos"/>
              </a:rPr>
              <a:t>07 •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Simple full-stack architecture, built for rapid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4D2E1"/>
                </a:solidFill>
                <a:latin typeface="Aptos"/>
              </a:rPr>
              <a:t>The source presentation identifies HTML5/CSS3/JavaScript frontend and a full-stack backend/API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874519"/>
            <a:ext cx="10058400" cy="658368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2048255"/>
            <a:ext cx="1965960" cy="310896"/>
          </a:xfrm>
          <a:prstGeom prst="roundRect">
            <a:avLst/>
          </a:prstGeom>
          <a:solidFill>
            <a:srgbClr val="007ED2"/>
          </a:solidFill>
          <a:ln w="12700">
            <a:solidFill>
              <a:srgbClr val="007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066543"/>
            <a:ext cx="18196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STUDENT /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039112"/>
            <a:ext cx="7086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Responsive web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5603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BEC8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770632"/>
            <a:ext cx="10058400" cy="658368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2944368"/>
            <a:ext cx="1965960" cy="310896"/>
          </a:xfrm>
          <a:prstGeom prst="roundRect">
            <a:avLst/>
          </a:prstGeom>
          <a:solidFill>
            <a:srgbClr val="26BEC8"/>
          </a:solidFill>
          <a:ln w="12700">
            <a:solidFill>
              <a:srgbClr val="26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2962656"/>
            <a:ext cx="18196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35224"/>
            <a:ext cx="7086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HTML5  •  CSS3  • 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45643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BEC8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666744"/>
            <a:ext cx="10058400" cy="658368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3840480"/>
            <a:ext cx="1965960" cy="310896"/>
          </a:xfrm>
          <a:prstGeom prst="roundRect">
            <a:avLst/>
          </a:prstGeom>
          <a:solidFill>
            <a:srgbClr val="2FAB75"/>
          </a:solidFill>
          <a:ln w="12700">
            <a:solidFill>
              <a:srgbClr val="2FA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3858768"/>
            <a:ext cx="18196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BACKEND /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31335"/>
            <a:ext cx="7086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Business logic  •  data integrity  •  API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35254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BEC8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562856"/>
            <a:ext cx="10058400" cy="658368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80160" y="4736592"/>
            <a:ext cx="1965960" cy="310896"/>
          </a:xfrm>
          <a:prstGeom prst="roundRect">
            <a:avLst/>
          </a:prstGeom>
          <a:solidFill>
            <a:srgbClr val="F59B3C"/>
          </a:solidFill>
          <a:ln w="12700">
            <a:solidFill>
              <a:srgbClr val="F5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3312" y="4754880"/>
            <a:ext cx="18196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727448"/>
            <a:ext cx="7086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Centralized complaint records  •  timestamps  •  status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623560"/>
            <a:ext cx="10058400" cy="438912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71500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D0E0"/>
                </a:solidFill>
                <a:latin typeface="Aptos"/>
              </a:rPr>
              <a:t>Rapid development approach enables quick deployment and stability.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5B6C9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6C9"/>
                </a:solidFill>
                <a:latin typeface="Aptos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D2"/>
                </a:solidFill>
                <a:latin typeface="Aptos"/>
              </a:rPr>
              <a:t>08 •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82D"/>
                </a:solidFill>
                <a:latin typeface="Aptos"/>
              </a:rPr>
              <a:t>Traditional drop box vs. HIET Online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971800" cy="502920"/>
          </a:xfrm>
          <a:prstGeom prst="roundRect">
            <a:avLst/>
          </a:prstGeom>
          <a:solidFill>
            <a:srgbClr val="0B182D"/>
          </a:solidFill>
          <a:ln w="12700">
            <a:solidFill>
              <a:srgbClr val="0B1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27523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3566160" cy="502920"/>
          </a:xfrm>
          <a:prstGeom prst="roundRect">
            <a:avLst/>
          </a:prstGeom>
          <a:solidFill>
            <a:srgbClr val="0B182D"/>
          </a:solidFill>
          <a:ln w="12700">
            <a:solidFill>
              <a:srgbClr val="0B1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938528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Traditional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828800"/>
            <a:ext cx="3703320" cy="502920"/>
          </a:xfrm>
          <a:prstGeom prst="roundRect">
            <a:avLst/>
          </a:prstGeom>
          <a:solidFill>
            <a:srgbClr val="0B182D"/>
          </a:solidFill>
          <a:ln w="12700">
            <a:solidFill>
              <a:srgbClr val="0B1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1938528"/>
            <a:ext cx="348386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HIET Online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2971800" cy="566928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06040"/>
            <a:ext cx="2715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B182D"/>
                </a:solidFill>
                <a:latin typeface="Aptos"/>
              </a:rPr>
              <a:t>Submission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468880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9935" y="2606040"/>
            <a:ext cx="3310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D2B3D"/>
                </a:solidFill>
                <a:latin typeface="Aptos"/>
              </a:rPr>
              <a:t>Manual walk-in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468880"/>
            <a:ext cx="3703320" cy="566928"/>
          </a:xfrm>
          <a:prstGeom prst="roundRect">
            <a:avLst/>
          </a:prstGeom>
          <a:solidFill>
            <a:srgbClr val="E4F7EE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46136" y="2606040"/>
            <a:ext cx="344728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82D"/>
                </a:solidFill>
                <a:latin typeface="Aptos"/>
              </a:rPr>
              <a:t>Instant online • 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18688"/>
            <a:ext cx="2971800" cy="566928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355848"/>
            <a:ext cx="2715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B182D"/>
                </a:solidFill>
                <a:latin typeface="Aptos"/>
              </a:rPr>
              <a:t>Status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3218688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5" y="3355848"/>
            <a:ext cx="3310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D2B3D"/>
                </a:solidFill>
                <a:latin typeface="Aptos"/>
              </a:rPr>
              <a:t>None / black 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218688"/>
            <a:ext cx="3703320" cy="566928"/>
          </a:xfrm>
          <a:prstGeom prst="roundRect">
            <a:avLst/>
          </a:prstGeom>
          <a:solidFill>
            <a:srgbClr val="E4F7EE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6136" y="3355848"/>
            <a:ext cx="344728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82D"/>
                </a:solidFill>
                <a:latin typeface="Aptos"/>
              </a:rPr>
              <a:t>Real-time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68496"/>
            <a:ext cx="2971800" cy="566928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105656"/>
            <a:ext cx="2715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B182D"/>
                </a:solidFill>
                <a:latin typeface="Aptos"/>
              </a:rPr>
              <a:t>Record maintenance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3968496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9935" y="4105656"/>
            <a:ext cx="3310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D2B3D"/>
                </a:solidFill>
                <a:latin typeface="Aptos"/>
              </a:rPr>
              <a:t>Paper notes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968496"/>
            <a:ext cx="3703320" cy="566928"/>
          </a:xfrm>
          <a:prstGeom prst="roundRect">
            <a:avLst/>
          </a:prstGeom>
          <a:solidFill>
            <a:srgbClr val="E4F7EE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6136" y="4105656"/>
            <a:ext cx="344728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82D"/>
                </a:solidFill>
                <a:latin typeface="Aptos"/>
              </a:rPr>
              <a:t>Centralized digital database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18304"/>
            <a:ext cx="2971800" cy="566928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855464"/>
            <a:ext cx="2715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B182D"/>
                </a:solidFill>
                <a:latin typeface="Aptos"/>
              </a:rPr>
              <a:t>Department routing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4718304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59935" y="4855464"/>
            <a:ext cx="33101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D2B3D"/>
                </a:solidFill>
                <a:latin typeface="Aptos"/>
              </a:rPr>
              <a:t>Manual sorting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4718304"/>
            <a:ext cx="3703320" cy="566928"/>
          </a:xfrm>
          <a:prstGeom prst="roundRect">
            <a:avLst/>
          </a:prstGeom>
          <a:solidFill>
            <a:srgbClr val="E4F7EE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6" y="4855464"/>
            <a:ext cx="344728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82D"/>
                </a:solidFill>
                <a:latin typeface="Aptos"/>
              </a:rPr>
              <a:t>Category-based 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87A91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87A91"/>
                </a:solidFill>
                <a:latin typeface="Aptos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C8"/>
                </a:solidFill>
                <a:latin typeface="Aptos"/>
              </a:rPr>
              <a:t>09 •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changes after going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4D2E1"/>
                </a:solidFill>
                <a:latin typeface="Aptos"/>
              </a:rPr>
              <a:t>The source deck projects significant gains in operational response and sustainability.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2423160" cy="23317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487168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6BEC8"/>
                </a:solidFill>
                <a:latin typeface="Aptos"/>
              </a:rP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24612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Faster resolution lead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D0E0"/>
                </a:solidFill>
                <a:latin typeface="Aptos"/>
              </a:rPr>
              <a:t>Digital efficiency over manual friction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2148840"/>
            <a:ext cx="2423160" cy="23317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487168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FAB75"/>
                </a:solidFill>
                <a:latin typeface="Apto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324612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Paperless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749039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D0E0"/>
                </a:solidFill>
                <a:latin typeface="Aptos"/>
              </a:rPr>
              <a:t>Centralized digital grievance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48840"/>
            <a:ext cx="2423160" cy="23317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487168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6BEC8"/>
                </a:solidFill>
                <a:latin typeface="Aptos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24612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Student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39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D0E0"/>
                </a:solidFill>
                <a:latin typeface="Aptos"/>
              </a:rPr>
              <a:t>Submit from any student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19" y="2148840"/>
            <a:ext cx="2423160" cy="233172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1" y="2487168"/>
            <a:ext cx="2103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FAB75"/>
                </a:solidFill>
                <a:latin typeface="Aptos"/>
              </a:rPr>
              <a:t>1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324612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Single source of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3749039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ED0E0"/>
                </a:solidFill>
                <a:latin typeface="Aptos"/>
              </a:rPr>
              <a:t>Better visibility for campus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Result: less administrative friction + better accountability + improved student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5B6C9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6C9"/>
                </a:solidFill>
                <a:latin typeface="Aptos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D2"/>
                </a:solidFill>
                <a:latin typeface="Aptos"/>
              </a:rPr>
              <a:t>10 •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82D"/>
                </a:solidFill>
                <a:latin typeface="Aptos"/>
              </a:rPr>
              <a:t>Roadmap from digital portal to intelligent grievance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3246120" cy="24231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31720"/>
            <a:ext cx="1051560" cy="310896"/>
          </a:xfrm>
          <a:prstGeom prst="roundRect">
            <a:avLst/>
          </a:prstGeom>
          <a:solidFill>
            <a:srgbClr val="007ED2"/>
          </a:solidFill>
          <a:ln w="12700">
            <a:solidFill>
              <a:srgbClr val="007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350008"/>
            <a:ext cx="9052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077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82D"/>
                </a:solidFill>
                <a:latin typeface="Aptos"/>
              </a:rPr>
              <a:t>SMS &amp; Email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A91"/>
                </a:solidFill>
                <a:latin typeface="Aptos"/>
              </a:rPr>
              <a:t>Notify students instantly when complaint status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971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7ED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57400"/>
            <a:ext cx="3246120" cy="24231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59" y="2331720"/>
            <a:ext cx="1051560" cy="310896"/>
          </a:xfrm>
          <a:prstGeom prst="roundRect">
            <a:avLst/>
          </a:prstGeom>
          <a:solidFill>
            <a:srgbClr val="26BEC8"/>
          </a:solidFill>
          <a:ln w="12700">
            <a:solidFill>
              <a:srgbClr val="26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350008"/>
            <a:ext cx="9052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9077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82D"/>
                </a:solidFill>
                <a:latin typeface="Aptos"/>
              </a:rPr>
              <a:t>AI Auto-Routing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4290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A91"/>
                </a:solidFill>
                <a:latin typeface="Aptos"/>
              </a:rPr>
              <a:t>NLP-based tagging for severity and responsible staff.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971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6BEC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57400"/>
            <a:ext cx="3246120" cy="242316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2331720"/>
            <a:ext cx="1051560" cy="310896"/>
          </a:xfrm>
          <a:prstGeom prst="roundRect">
            <a:avLst/>
          </a:prstGeom>
          <a:solidFill>
            <a:srgbClr val="2FAB75"/>
          </a:solidFill>
          <a:ln w="12700">
            <a:solidFill>
              <a:srgbClr val="2FA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2350008"/>
            <a:ext cx="90525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9077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82D"/>
                </a:solidFill>
                <a:latin typeface="Aptos"/>
              </a:rPr>
              <a:t>Escalation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4290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A91"/>
                </a:solidFill>
                <a:latin typeface="Aptos"/>
              </a:rPr>
              <a:t>Auto-escalate unresolved complaints after 48 hours.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983480"/>
            <a:ext cx="9418320" cy="658368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1663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82D"/>
                </a:solidFill>
                <a:latin typeface="Aptos"/>
              </a:rPr>
              <a:t>Goal: a proactive, transparent and student-first campus grievance ecosystem.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87A91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87A91"/>
                </a:solidFill>
                <a:latin typeface="Aptos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BEC8"/>
                </a:solidFill>
                <a:latin typeface="Aptos"/>
              </a:rPr>
              <a:t>TEAM EXCEL  •  HIET INNOVATION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Let every complaint become an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8D9E7"/>
                </a:solidFill>
                <a:latin typeface="Aptos"/>
              </a:rPr>
              <a:t>HIET Online Complaint Box — modern, transparent and student-first.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337560"/>
            <a:ext cx="10698480" cy="1325880"/>
          </a:xfrm>
          <a:prstGeom prst="roundRect">
            <a:avLst/>
          </a:prstGeom>
          <a:solidFill>
            <a:srgbClr val="182D46"/>
          </a:solidFill>
          <a:ln w="12700">
            <a:solidFill>
              <a:srgbClr val="3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C8"/>
                </a:solidFill>
                <a:latin typeface="Apto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50208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Deevanshu • Suraj • Nitin • Aryan Shukla • Khushi • Sheetal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ED0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5B6C9"/>
                </a:solidFill>
                <a:latin typeface="Aptos"/>
              </a:rPr>
              <a:t>HIET Online Complaint Box  •  Team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6C9"/>
                </a:solidFill>
                <a:latin typeface="Aptos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